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8" r:id="rId2"/>
    <p:sldId id="257" r:id="rId3"/>
    <p:sldId id="279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76" r:id="rId12"/>
    <p:sldId id="265" r:id="rId13"/>
    <p:sldId id="280" r:id="rId14"/>
    <p:sldId id="281" r:id="rId15"/>
    <p:sldId id="282" r:id="rId16"/>
    <p:sldId id="283" r:id="rId17"/>
    <p:sldId id="266" r:id="rId18"/>
    <p:sldId id="275" r:id="rId19"/>
    <p:sldId id="274" r:id="rId20"/>
    <p:sldId id="27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8F24E6-16E3-4DC8-9EDC-F54C03563792}" v="18" dt="2026-02-12T19:43:48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0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3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31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5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9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70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09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3062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74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4519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26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68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5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13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1168" y="2352294"/>
            <a:ext cx="8229600" cy="2153412"/>
          </a:xfrm>
        </p:spPr>
        <p:txBody>
          <a:bodyPr>
            <a:noAutofit/>
          </a:bodyPr>
          <a:lstStyle/>
          <a:p>
            <a:pPr algn="ctr"/>
            <a:r>
              <a:rPr sz="6000" dirty="0">
                <a:latin typeface="Angsana New" panose="02020603050405020304" pitchFamily="18" charset="-34"/>
                <a:cs typeface="Angsana New" panose="02020603050405020304" pitchFamily="18" charset="-34"/>
              </a:rPr>
              <a:t>Brain Tumor Detection Using Deep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" y="5647194"/>
            <a:ext cx="3255264" cy="52120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 algn="r">
              <a:buNone/>
            </a:pPr>
            <a:r>
              <a:rPr dirty="0"/>
              <a:t>Ananya Vaidya</a:t>
            </a:r>
            <a:r>
              <a:rPr lang="en-IN" dirty="0"/>
              <a:t> (1032232438, G2 batch)</a:t>
            </a:r>
            <a:br>
              <a:rPr lang="en-IN" dirty="0"/>
            </a:br>
            <a:r>
              <a:rPr lang="en-IN" dirty="0"/>
              <a:t>Ananya Porwal (1032232297, G2 batch)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F0FB9-35EF-9C20-0F4B-F933A7506C7A}"/>
              </a:ext>
            </a:extLst>
          </p:cNvPr>
          <p:cNvSpPr txBox="1"/>
          <p:nvPr/>
        </p:nvSpPr>
        <p:spPr>
          <a:xfrm>
            <a:off x="1618488" y="689598"/>
            <a:ext cx="4974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DNN LCA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38784"/>
            <a:ext cx="6347713" cy="1320800"/>
          </a:xfrm>
        </p:spPr>
        <p:txBody>
          <a:bodyPr>
            <a:normAutofit/>
          </a:bodyPr>
          <a:lstStyle/>
          <a:p>
            <a:r>
              <a:rPr sz="4800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3055400"/>
            <a:ext cx="6347714" cy="1789618"/>
          </a:xfrm>
        </p:spPr>
        <p:txBody>
          <a:bodyPr>
            <a:normAutofit/>
          </a:bodyPr>
          <a:lstStyle/>
          <a:p>
            <a:r>
              <a:rPr sz="2400" dirty="0"/>
              <a:t>Manual MRI analysis is slow and subjective.</a:t>
            </a:r>
          </a:p>
          <a:p>
            <a:r>
              <a:rPr sz="2400" dirty="0"/>
              <a:t>Goal: Automatically classify brain MRI images as Tumor or No Tumor using CNN.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103376"/>
            <a:ext cx="6347713" cy="1320800"/>
          </a:xfrm>
        </p:spPr>
        <p:txBody>
          <a:bodyPr>
            <a:normAutofit/>
          </a:bodyPr>
          <a:lstStyle/>
          <a:p>
            <a:r>
              <a:rPr sz="480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645222"/>
            <a:ext cx="6347714" cy="3225226"/>
          </a:xfrm>
        </p:spPr>
        <p:txBody>
          <a:bodyPr>
            <a:normAutofit/>
          </a:bodyPr>
          <a:lstStyle/>
          <a:p>
            <a:r>
              <a:rPr lang="en-US" sz="2400" dirty="0"/>
              <a:t>Build CNN model</a:t>
            </a:r>
          </a:p>
          <a:p>
            <a:r>
              <a:rPr lang="en-US" sz="2400" dirty="0"/>
              <a:t>Preprocess MRI images</a:t>
            </a:r>
          </a:p>
          <a:p>
            <a:r>
              <a:rPr lang="en-US" sz="2400" dirty="0"/>
              <a:t>Train on real dataset</a:t>
            </a:r>
          </a:p>
          <a:p>
            <a:r>
              <a:rPr lang="en-US" sz="2400" dirty="0"/>
              <a:t>Evaluate accuracy</a:t>
            </a:r>
          </a:p>
          <a:p>
            <a:r>
              <a:rPr lang="en-US" sz="2400" dirty="0"/>
              <a:t>Predict tumor on new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616" y="2160590"/>
            <a:ext cx="7635240" cy="3880773"/>
          </a:xfrm>
        </p:spPr>
        <p:txBody>
          <a:bodyPr>
            <a:normAutofit/>
          </a:bodyPr>
          <a:lstStyle/>
          <a:p>
            <a:r>
              <a:rPr lang="en-IN" sz="2400" dirty="0"/>
              <a:t>Source: Kaggle Brain MRI Dataset</a:t>
            </a:r>
          </a:p>
          <a:p>
            <a:r>
              <a:rPr lang="en-IN" sz="2400" dirty="0"/>
              <a:t>Classes: </a:t>
            </a:r>
            <a:r>
              <a:rPr lang="en-IN" sz="2400" dirty="0" err="1"/>
              <a:t>Tumor</a:t>
            </a:r>
            <a:r>
              <a:rPr lang="en-IN" sz="2400" dirty="0"/>
              <a:t> / No </a:t>
            </a:r>
            <a:r>
              <a:rPr lang="en-IN" sz="2400" dirty="0" err="1"/>
              <a:t>Tumor</a:t>
            </a:r>
            <a:endParaRPr lang="en-IN" sz="2400" dirty="0"/>
          </a:p>
          <a:p>
            <a:r>
              <a:rPr lang="en-IN" sz="2400" dirty="0"/>
              <a:t>Total Images: 253</a:t>
            </a:r>
          </a:p>
          <a:p>
            <a:r>
              <a:rPr lang="en-IN" sz="2400" dirty="0"/>
              <a:t>Training Images: 202(78 No </a:t>
            </a:r>
            <a:r>
              <a:rPr lang="en-IN" sz="2400" dirty="0" err="1"/>
              <a:t>Tumor</a:t>
            </a:r>
            <a:r>
              <a:rPr lang="en-IN" sz="2400" dirty="0"/>
              <a:t> and 124 </a:t>
            </a:r>
            <a:r>
              <a:rPr lang="en-IN" sz="2400" dirty="0" err="1"/>
              <a:t>Tumor</a:t>
            </a:r>
            <a:r>
              <a:rPr lang="en-IN" sz="2400" dirty="0"/>
              <a:t>)</a:t>
            </a:r>
          </a:p>
          <a:p>
            <a:r>
              <a:rPr lang="en-IN" sz="2400" dirty="0"/>
              <a:t>Testing Images: 51(20 No </a:t>
            </a:r>
            <a:r>
              <a:rPr lang="en-IN" sz="2400" dirty="0" err="1"/>
              <a:t>Tumor</a:t>
            </a:r>
            <a:r>
              <a:rPr lang="en-IN" sz="2400" dirty="0"/>
              <a:t> and 31 </a:t>
            </a:r>
            <a:r>
              <a:rPr lang="en-IN" sz="2400" dirty="0" err="1"/>
              <a:t>Tumor</a:t>
            </a:r>
            <a:r>
              <a:rPr lang="en-IN" sz="2400" dirty="0"/>
              <a:t>)</a:t>
            </a:r>
          </a:p>
          <a:p>
            <a:r>
              <a:rPr lang="en-IN" sz="2400" dirty="0"/>
              <a:t>Split Ratio: 80% Train / 20% Test</a:t>
            </a:r>
          </a:p>
          <a:p>
            <a:r>
              <a:rPr lang="en-US" sz="2400" dirty="0"/>
              <a:t>Images loaded from local PC via </a:t>
            </a:r>
            <a:r>
              <a:rPr lang="en-US" sz="2400" dirty="0" err="1"/>
              <a:t>Colab</a:t>
            </a:r>
            <a:r>
              <a:rPr lang="en-US" sz="2400" dirty="0"/>
              <a:t> upload</a:t>
            </a:r>
            <a:endParaRPr lang="en-IN" sz="2400" dirty="0"/>
          </a:p>
          <a:p>
            <a:endParaRPr lang="en-I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/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Resize images to 224×224</a:t>
            </a:r>
          </a:p>
          <a:p>
            <a:r>
              <a:rPr sz="2400" dirty="0"/>
              <a:t>Normalize pixel values</a:t>
            </a:r>
          </a:p>
          <a:p>
            <a:r>
              <a:rPr sz="2400" dirty="0"/>
              <a:t>Data augmentation (rotation, zoom, flip)</a:t>
            </a:r>
          </a:p>
          <a:p>
            <a:r>
              <a:rPr sz="2400" dirty="0"/>
              <a:t>Convert folders into labeled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/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Conv2D → </a:t>
            </a:r>
            <a:r>
              <a:rPr sz="2400" dirty="0" err="1"/>
              <a:t>MaxPooling</a:t>
            </a:r>
            <a:endParaRPr sz="2400" dirty="0"/>
          </a:p>
          <a:p>
            <a:r>
              <a:rPr sz="2400" dirty="0"/>
              <a:t>Conv2D → </a:t>
            </a:r>
            <a:r>
              <a:rPr sz="2400" dirty="0" err="1"/>
              <a:t>MaxPooling</a:t>
            </a:r>
            <a:endParaRPr sz="2400" dirty="0"/>
          </a:p>
          <a:p>
            <a:r>
              <a:rPr sz="2400" dirty="0"/>
              <a:t>Conv2D → </a:t>
            </a:r>
            <a:r>
              <a:rPr sz="2400" dirty="0" err="1"/>
              <a:t>MaxPooling</a:t>
            </a:r>
            <a:endParaRPr sz="2400" dirty="0"/>
          </a:p>
          <a:p>
            <a:r>
              <a:rPr sz="2400" dirty="0"/>
              <a:t>Flatten</a:t>
            </a:r>
          </a:p>
          <a:p>
            <a:r>
              <a:rPr sz="2400" dirty="0"/>
              <a:t>Dense(128)</a:t>
            </a:r>
          </a:p>
          <a:p>
            <a:r>
              <a:rPr sz="2400" dirty="0"/>
              <a:t>Dropout</a:t>
            </a:r>
          </a:p>
          <a:p>
            <a:r>
              <a:rPr sz="2400" dirty="0"/>
              <a:t>Sigmoid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/>
              <a:t>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Optimizer: Adam</a:t>
            </a:r>
          </a:p>
          <a:p>
            <a:r>
              <a:rPr sz="2400" dirty="0"/>
              <a:t>Loss: Binary </a:t>
            </a:r>
            <a:r>
              <a:rPr sz="2400" dirty="0" err="1"/>
              <a:t>Crossentropy</a:t>
            </a:r>
            <a:endParaRPr sz="2400" dirty="0"/>
          </a:p>
          <a:p>
            <a:r>
              <a:rPr sz="2400" dirty="0"/>
              <a:t>Epochs: 12</a:t>
            </a:r>
          </a:p>
          <a:p>
            <a:r>
              <a:rPr sz="2400" dirty="0"/>
              <a:t>Batch Size: 16</a:t>
            </a:r>
          </a:p>
          <a:p>
            <a:r>
              <a:rPr sz="2400" dirty="0"/>
              <a:t>Hardware: Google </a:t>
            </a:r>
            <a:r>
              <a:rPr sz="2400" dirty="0" err="1"/>
              <a:t>Colab</a:t>
            </a:r>
            <a:r>
              <a:rPr sz="2400" dirty="0"/>
              <a:t> GPU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/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CNN learns features like edges, shapes and tumor patterns.</a:t>
            </a:r>
          </a:p>
          <a:p>
            <a:r>
              <a:rPr sz="2400" dirty="0"/>
              <a:t>Weights updated using backpropagation and gradient descent.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Accuracy</a:t>
            </a:r>
          </a:p>
          <a:p>
            <a:r>
              <a:rPr sz="2400" dirty="0"/>
              <a:t>Confusion Matrix</a:t>
            </a:r>
          </a:p>
          <a:p>
            <a:r>
              <a:rPr sz="2400" dirty="0"/>
              <a:t>Classification Report</a:t>
            </a:r>
          </a:p>
          <a:p>
            <a:r>
              <a:rPr sz="2400" dirty="0"/>
              <a:t>ROC Curve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993648"/>
            <a:ext cx="6347713" cy="1320800"/>
          </a:xfrm>
        </p:spPr>
        <p:txBody>
          <a:bodyPr>
            <a:normAutofit/>
          </a:bodyPr>
          <a:lstStyle/>
          <a:p>
            <a:r>
              <a:rPr sz="4800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882967"/>
            <a:ext cx="6347714" cy="2164522"/>
          </a:xfrm>
        </p:spPr>
        <p:txBody>
          <a:bodyPr>
            <a:normAutofit/>
          </a:bodyPr>
          <a:lstStyle/>
          <a:p>
            <a:r>
              <a:rPr sz="2400" dirty="0"/>
              <a:t>Automated detection</a:t>
            </a:r>
          </a:p>
          <a:p>
            <a:r>
              <a:rPr sz="2400" dirty="0"/>
              <a:t>Reduces human error</a:t>
            </a:r>
          </a:p>
          <a:p>
            <a:r>
              <a:rPr sz="2400" dirty="0"/>
              <a:t>Fast diagnosis</a:t>
            </a:r>
          </a:p>
          <a:p>
            <a:r>
              <a:rPr sz="2400" dirty="0"/>
              <a:t>Scalable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957072"/>
            <a:ext cx="6347713" cy="1320800"/>
          </a:xfrm>
        </p:spPr>
        <p:txBody>
          <a:bodyPr>
            <a:normAutofit/>
          </a:bodyPr>
          <a:lstStyle/>
          <a:p>
            <a:r>
              <a:rPr sz="4800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3000536"/>
            <a:ext cx="6347714" cy="1679890"/>
          </a:xfrm>
        </p:spPr>
        <p:txBody>
          <a:bodyPr>
            <a:normAutofit/>
          </a:bodyPr>
          <a:lstStyle/>
          <a:p>
            <a:r>
              <a:rPr sz="2400" dirty="0"/>
              <a:t>Small dataset</a:t>
            </a:r>
          </a:p>
          <a:p>
            <a:r>
              <a:rPr sz="2400" dirty="0"/>
              <a:t>Binary classification only</a:t>
            </a:r>
          </a:p>
          <a:p>
            <a:r>
              <a:rPr sz="2400" dirty="0"/>
              <a:t>Needs more medical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Final Test Accuracy ≈ 80–85%</a:t>
            </a:r>
          </a:p>
          <a:p>
            <a:r>
              <a:rPr sz="2400" dirty="0"/>
              <a:t>Model successfully classifies MRI images</a:t>
            </a:r>
          </a:p>
          <a:p>
            <a:r>
              <a:rPr sz="2400" dirty="0"/>
              <a:t>Single image prediction implemented</a:t>
            </a:r>
            <a:endParaRPr lang="en-IN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6209E-B310-C3F1-9131-E7632AD02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261D-B676-4BE5-60C9-FF755369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Outputs</a:t>
            </a:r>
            <a:endParaRPr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02926-732B-6142-6E04-3BC079FC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447" y="1930401"/>
            <a:ext cx="3395473" cy="984946"/>
          </a:xfrm>
        </p:spPr>
        <p:txBody>
          <a:bodyPr>
            <a:normAutofit/>
          </a:bodyPr>
          <a:lstStyle/>
          <a:p>
            <a:r>
              <a:rPr lang="en-IN" sz="2400" dirty="0"/>
              <a:t>Confusion Matrix</a:t>
            </a:r>
          </a:p>
          <a:p>
            <a:r>
              <a:rPr lang="en-IN" sz="2400" dirty="0"/>
              <a:t>Classification Report</a:t>
            </a: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F7FDD-76C4-49C8-5709-85EBB9FC0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35" y="3047229"/>
            <a:ext cx="5477639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24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CFBC5-1392-D25A-4CFE-C748CB53B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6DF29-1D86-228B-8E7D-CD5B571F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Outputs</a:t>
            </a:r>
            <a:endParaRPr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7CD83-3369-F363-3EEE-1FCC7EB96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982" y="1630173"/>
            <a:ext cx="3395473" cy="620775"/>
          </a:xfrm>
        </p:spPr>
        <p:txBody>
          <a:bodyPr>
            <a:normAutofit/>
          </a:bodyPr>
          <a:lstStyle/>
          <a:p>
            <a:r>
              <a:rPr lang="en-IN" sz="2400" dirty="0"/>
              <a:t>ROC Curve Graph</a:t>
            </a:r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61982D-FB39-B921-F88E-D8890CA92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42" y="2240788"/>
            <a:ext cx="5723858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4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F78FE-E7E2-6100-5DE2-55F53A94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674F-0C6E-01AD-4783-49DFA55A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Outputs</a:t>
            </a:r>
            <a:endParaRPr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C8C2-6A4E-0C75-80BD-65774D482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982" y="1630173"/>
            <a:ext cx="3395473" cy="620775"/>
          </a:xfrm>
        </p:spPr>
        <p:txBody>
          <a:bodyPr>
            <a:normAutofit/>
          </a:bodyPr>
          <a:lstStyle/>
          <a:p>
            <a:r>
              <a:rPr lang="en-IN" sz="2400" dirty="0"/>
              <a:t>Accuracy Graph</a:t>
            </a: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C6B957-E9BD-4684-1E41-90B685246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85" y="2093975"/>
            <a:ext cx="5791893" cy="375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02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8BAB1-71F0-EBEB-786C-6DC6CDB67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FAEE-D6B6-1842-1222-45AA0F53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Outputs</a:t>
            </a:r>
            <a:endParaRPr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1AC12-E5C8-B0E8-7ADB-BBA8B776D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982" y="1630173"/>
            <a:ext cx="3395473" cy="620775"/>
          </a:xfrm>
        </p:spPr>
        <p:txBody>
          <a:bodyPr>
            <a:normAutofit/>
          </a:bodyPr>
          <a:lstStyle/>
          <a:p>
            <a:r>
              <a:rPr lang="en-IN" sz="2400" dirty="0"/>
              <a:t>Loss Graph</a:t>
            </a: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6973E8-78F3-415F-4532-F09EC40E8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63" y="2176272"/>
            <a:ext cx="5822284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66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/>
              <a:t>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Trained model predicts:</a:t>
            </a:r>
          </a:p>
          <a:p>
            <a:pPr marL="0" indent="0">
              <a:buNone/>
            </a:pPr>
            <a:r>
              <a:rPr lang="en-IN" sz="2400" dirty="0"/>
              <a:t>             </a:t>
            </a:r>
            <a:r>
              <a:rPr sz="2400" dirty="0"/>
              <a:t>TUMOR or NO TUMOR</a:t>
            </a:r>
          </a:p>
          <a:p>
            <a:r>
              <a:rPr sz="2400" dirty="0"/>
              <a:t>MRI image displayed along with 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49B2E6-6363-9825-EB03-A9BB639BA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64" y="4100976"/>
            <a:ext cx="5145981" cy="7972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Multi-class tumor detection</a:t>
            </a:r>
          </a:p>
          <a:p>
            <a:r>
              <a:rPr sz="2400" dirty="0"/>
              <a:t>Larger datasets</a:t>
            </a:r>
          </a:p>
          <a:p>
            <a:r>
              <a:rPr sz="2400" dirty="0"/>
              <a:t>Real hospital integration</a:t>
            </a:r>
          </a:p>
          <a:p>
            <a:r>
              <a:rPr sz="2400" dirty="0"/>
              <a:t>Transfer learning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CNN successfully classifies brain MRI images.</a:t>
            </a:r>
          </a:p>
          <a:p>
            <a:r>
              <a:rPr sz="2400" dirty="0"/>
              <a:t>Achieved ~85% accuracy.</a:t>
            </a:r>
          </a:p>
          <a:p>
            <a:r>
              <a:rPr sz="2400" dirty="0"/>
              <a:t>Demonstrates potential of AI in medical imaging.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2928"/>
            <a:ext cx="8229600" cy="2249424"/>
          </a:xfrm>
        </p:spPr>
        <p:txBody>
          <a:bodyPr>
            <a:noAutofit/>
          </a:bodyPr>
          <a:lstStyle/>
          <a:p>
            <a:r>
              <a:rPr sz="9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</TotalTime>
  <Words>319</Words>
  <Application>Microsoft Office PowerPoint</Application>
  <PresentationFormat>On-screen Show (4:3)</PresentationFormat>
  <Paragraphs>83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Facet</vt:lpstr>
      <vt:lpstr>Brain Tumor Detection Using Deep Neural Networks</vt:lpstr>
      <vt:lpstr>Problem Statement</vt:lpstr>
      <vt:lpstr>Objectives</vt:lpstr>
      <vt:lpstr>Dataset</vt:lpstr>
      <vt:lpstr>Preprocessing</vt:lpstr>
      <vt:lpstr>CNN Architecture</vt:lpstr>
      <vt:lpstr>Training Setup</vt:lpstr>
      <vt:lpstr>Model Training</vt:lpstr>
      <vt:lpstr>Evaluation</vt:lpstr>
      <vt:lpstr>Advantages</vt:lpstr>
      <vt:lpstr>Limitations</vt:lpstr>
      <vt:lpstr>Results</vt:lpstr>
      <vt:lpstr>Outputs</vt:lpstr>
      <vt:lpstr>Outputs</vt:lpstr>
      <vt:lpstr>Outputs</vt:lpstr>
      <vt:lpstr>Outputs</vt:lpstr>
      <vt:lpstr>Prediction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919322088165</cp:lastModifiedBy>
  <cp:revision>3</cp:revision>
  <dcterms:created xsi:type="dcterms:W3CDTF">2013-01-27T09:14:16Z</dcterms:created>
  <dcterms:modified xsi:type="dcterms:W3CDTF">2026-02-12T20:21:59Z</dcterms:modified>
  <cp:category/>
</cp:coreProperties>
</file>